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Najważniejszy przekaz: wzorce rozdzielają odpowiedzialności i ułatwiają rozwój aplikacji.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5AA469"/>
          </a:solidFill>
          <a:ln w="12700">
            <a:solidFill>
              <a:srgbClr val="5AA4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HairSalon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Booking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40280" y="4315968"/>
            <a:ext cx="2011680" cy="2011680"/>
          </a:xfrm>
          <a:prstGeom prst="arc">
            <a:avLst/>
          </a:prstGeom>
          <a:noFill/>
          <a:ln w="27940">
            <a:solidFill>
              <a:srgbClr val="49B6D6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760720"/>
            <a:ext cx="2377440" cy="0"/>
          </a:xfrm>
          <a:prstGeom prst="line">
            <a:avLst/>
          </a:prstGeom>
          <a:noFill/>
          <a:ln w="25400">
            <a:solidFill>
              <a:srgbClr val="49B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960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74A6"/>
                </a:solidFill>
              </a:rPr>
              <a:t>RAPORT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4173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Raport projektu: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wzorce projektowe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617720" y="29718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Jak design patterns porządkują backend salonu fryzjerskiego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17720" y="4023360"/>
            <a:ext cx="2011680" cy="0"/>
          </a:xfrm>
          <a:prstGeom prst="line">
            <a:avLst/>
          </a:prstGeom>
          <a:noFill/>
          <a:ln w="38100">
            <a:solidFill>
              <a:srgbClr val="E28A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4846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Projekt C# / .NET 8 / Azure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18.05.2026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Cel prezentacji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Pokazać, gdzie wzorce występują w kodzie i po co zostały użyte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566928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1F2933"/>
                </a:solidFill>
              </a:rPr>
              <a:t>Projekt nie używa wzorców jako teorii, tylko jako organizacji realnego backendu.</a:t>
            </a:r>
            <a:endParaRPr lang="en-US" sz="1500" dirty="0"/>
          </a:p>
          <a:p>
            <a:r>
              <a:rPr lang="en-US" sz="1500" dirty="0">
                <a:solidFill>
                  <a:srgbClr val="1F2933"/>
                </a:solidFill>
              </a:rPr>
              <a:t>Najważniejsze wzorce: Facade, Repository, Observer/Event, Strategy/Handler, Factory Method.</a:t>
            </a:r>
            <a:endParaRPr lang="en-US" sz="1500" dirty="0"/>
          </a:p>
          <a:p>
            <a:r>
              <a:rPr lang="en-US" sz="1500" dirty="0">
                <a:solidFill>
                  <a:srgbClr val="1F2933"/>
                </a:solidFill>
              </a:rPr>
              <a:t>Dodatkowo: Dependency Injection, Adapter, Singleton, Iterator i Options Pattern.</a:t>
            </a:r>
            <a:endParaRPr lang="en-US" sz="1500" dirty="0"/>
          </a:p>
          <a:p>
            <a:r>
              <a:rPr lang="en-US" sz="1500" dirty="0">
                <a:solidFill>
                  <a:srgbClr val="1F2933"/>
                </a:solidFill>
              </a:rPr>
              <a:t>Każdy wzorzec rozwiązuje konkretny problem w aplikacji rezerwacyjnej.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50876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1508760"/>
            <a:ext cx="73152" cy="1600200"/>
          </a:xfrm>
          <a:prstGeom prst="rect">
            <a:avLst/>
          </a:prstGeom>
          <a:solidFill>
            <a:srgbClr val="5AA469"/>
          </a:solidFill>
          <a:ln w="12700">
            <a:solidFill>
              <a:srgbClr val="5AA4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50608" y="167335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Główna zasada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150608" y="20116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Kontrolery mają być proste. Logika biznesowa, dane i integracje Azure są przeniesione do osobnych klas.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Wzorce projektowe / cel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wzorców w projekcie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Jeden backend, kilka ról architektonicznych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394960" cy="3520440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44168"/>
            <a:ext cx="18882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Facade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827325" y="1344168"/>
            <a:ext cx="30751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AppointmentBookingFacade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539496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47088"/>
            <a:ext cx="18882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Repository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27325" y="1847088"/>
            <a:ext cx="30751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IBookingRepository, CosmosBookingRepository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77240" y="2240280"/>
            <a:ext cx="539496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50008"/>
            <a:ext cx="18882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Observer/Event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27325" y="2350008"/>
            <a:ext cx="30751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BookingEventPublisher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77240" y="2743200"/>
            <a:ext cx="539496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52928"/>
            <a:ext cx="18882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Strategy/Handler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27325" y="2852928"/>
            <a:ext cx="30751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IAppointmentBookedHandler i implementacje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77240" y="3246120"/>
            <a:ext cx="539496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55848"/>
            <a:ext cx="18882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Factory Method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27325" y="3355848"/>
            <a:ext cx="30751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BookingEntityFactory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77240" y="3749040"/>
            <a:ext cx="539496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858768"/>
            <a:ext cx="18882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Adapter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827325" y="3858768"/>
            <a:ext cx="30751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BlobPhotoStorageService, EasyAuthCurrentUserService, EmailSender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77240" y="4251960"/>
            <a:ext cx="539496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361688"/>
            <a:ext cx="18882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Singleton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27325" y="4361688"/>
            <a:ext cx="30751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CosmosClient przez Dependency Injection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629400" y="1234440"/>
            <a:ext cx="4297680" cy="356616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524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463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74A6"/>
                </a:solidFill>
              </a:rPr>
              <a:t>[Zrzut ekranu]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1920240"/>
            <a:ext cx="365760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Wstaw zrzut Solution Explorer z projektami Api/Core/Functions.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Mapa wzorców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Facade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AppointmentBookingFacade ukrywa złożoność rezerwacji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623560" cy="4160520"/>
          </a:xfrm>
          <a:prstGeom prst="roundRect">
            <a:avLst>
              <a:gd name="adj" fmla="val 879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99032"/>
            <a:ext cx="529437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 async Task&lt;Appointment&gt; BookAsync(Appointment appointment, CancellationToken ct)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var customer = await customers.GetAsync(appointment.CustomerId, ct);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var hairdresser = await hairdressers.GetAsync(appointment.HairdresserId, ct);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var service = await services.GetAsync(appointment.SalonServiceId, ct);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appointment.EndAt = appointment.StartAt.AddMinutes(service.DurationMinutes);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await EnsureSlotIsFreeAsync(appointment, ct);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var created = await appointments.CreateAsync(appointment, ct);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await eventPublisher.PublishAppointmentBookedAsync(created, ct);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created;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6720840" y="1508760"/>
            <a:ext cx="4297680" cy="2468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20" dirty="0">
                <a:solidFill>
                  <a:srgbClr val="1F2933"/>
                </a:solidFill>
              </a:rPr>
              <a:t>Kontroler wywołuje jedną metodę BookAsync.</a:t>
            </a:r>
            <a:endParaRPr lang="en-US" sz="1320" dirty="0"/>
          </a:p>
          <a:p>
            <a:r>
              <a:rPr lang="en-US" sz="1320" dirty="0">
                <a:solidFill>
                  <a:srgbClr val="1F2933"/>
                </a:solidFill>
              </a:rPr>
              <a:t>Facade pobiera dane, waliduje, zapisuje wizytę i publikuje zdarzenie.</a:t>
            </a:r>
            <a:endParaRPr lang="en-US" sz="1320" dirty="0"/>
          </a:p>
          <a:p>
            <a:r>
              <a:rPr lang="en-US" sz="1320" dirty="0">
                <a:solidFill>
                  <a:srgbClr val="1F2933"/>
                </a:solidFill>
              </a:rPr>
              <a:t>Dzięki temu logika biznesowa nie jest rozbita po kontrolerach.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Facade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Kontrolery nie pracują bezpośrednio z Cosmos DB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166360" cy="2880360"/>
          </a:xfrm>
          <a:prstGeom prst="roundRect">
            <a:avLst>
              <a:gd name="adj" fmla="val 127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490472"/>
            <a:ext cx="483717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 interface IBookingRepository&lt;T&gt; where T : BookingEntity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Task&lt;IReadOnlyList&lt;T&gt;&gt; GetAllAsync(CancellationToken ct);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Task&lt;T?&gt; GetAsync(string id, CancellationToken ct);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Task&lt;T&gt; CreateAsync(T entity, CancellationToken ct);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Task&lt;T&gt; UpsertAsync(T entity, CancellationToken ct);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Task DeleteAsync(string id, CancellationToken ct);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6446520" y="1325880"/>
            <a:ext cx="4206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46520" y="1325880"/>
            <a:ext cx="73152" cy="1325880"/>
          </a:xfrm>
          <a:prstGeom prst="rect">
            <a:avLst/>
          </a:prstGeom>
          <a:solidFill>
            <a:srgbClr val="2474A6"/>
          </a:solidFill>
          <a:ln w="12700">
            <a:solidFill>
              <a:srgbClr val="247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47688" y="14904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CosmosBookingRepository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647688" y="18288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Implementacja ukrywa Container, PartitionKey, QueryDefinition i CosmosException.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446520" y="2971800"/>
            <a:ext cx="4206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971800"/>
            <a:ext cx="73152" cy="1325880"/>
          </a:xfrm>
          <a:prstGeom prst="rect">
            <a:avLst/>
          </a:prstGeom>
          <a:solidFill>
            <a:srgbClr val="E28A3B"/>
          </a:solidFill>
          <a:ln w="12700">
            <a:solidFill>
              <a:srgbClr val="E28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313639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InMemoryBookingRepository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647688" y="34747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Alternatywna implementacja dla lokalnego działania bez Cosmos DB.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Repository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Observer / Event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Po utworzeniu wizyty wiele komponentów reaguje niezależnie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5AA469"/>
          </a:solidFill>
          <a:ln w="12700">
            <a:solidFill>
              <a:srgbClr val="5AA4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93392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BookAsync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created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2240280" y="2084832"/>
            <a:ext cx="594360" cy="164592"/>
          </a:xfrm>
          <a:prstGeom prst="rightArrow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82880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183A59"/>
          </a:solidFill>
          <a:ln w="12700">
            <a:solidFill>
              <a:srgbClr val="183A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9232" y="19933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BookingEvent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Publisher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526280" y="2084832"/>
            <a:ext cx="594360" cy="164592"/>
          </a:xfrm>
          <a:prstGeom prst="rightArrow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57800" y="114300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2474A6"/>
          </a:solidFill>
          <a:ln w="12700">
            <a:solidFill>
              <a:srgbClr val="247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0952" y="1307592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Blob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handler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257800" y="201168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E28A3B"/>
          </a:solidFill>
          <a:ln w="12700">
            <a:solidFill>
              <a:srgbClr val="E28A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0952" y="2176272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Queue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handler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257800" y="288036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49B6D6"/>
          </a:solidFill>
          <a:ln w="12700">
            <a:solidFill>
              <a:srgbClr val="49B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0952" y="3044952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SignalR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handler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223760" y="141732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1417320"/>
            <a:ext cx="73152" cy="2011680"/>
          </a:xfrm>
          <a:prstGeom prst="rect">
            <a:avLst/>
          </a:prstGeom>
          <a:solidFill>
            <a:srgbClr val="5AA469"/>
          </a:solidFill>
          <a:ln w="12700">
            <a:solidFill>
              <a:srgbClr val="5AA4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4928" y="158191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Dlaczego?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424928" y="192024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Rezerwacja nie musi znać szczegółów każdej reakcji. Można dodać SMS albo raport jako kolejny handler.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223760" y="3886200"/>
            <a:ext cx="3566160" cy="822960"/>
          </a:xfrm>
          <a:prstGeom prst="roundRect">
            <a:avLst>
              <a:gd name="adj" fmla="val 444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88352" y="4050792"/>
            <a:ext cx="3236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foreach (var handler in handlers)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await handler.HandleAsync(appointment, cancellationToken);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Observer / Event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/ Handler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Ten sam interfejs, różne zachowania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4800600" cy="1371600"/>
          </a:xfrm>
          <a:prstGeom prst="roundRect">
            <a:avLst>
              <a:gd name="adj" fmla="val 2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444752"/>
            <a:ext cx="44714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 interface IAppointmentBookedHandler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Task HandleAsync(Appointment appointment, CancellationToken cancellationToken);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868680" y="306324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063240"/>
            <a:ext cx="73152" cy="1234440"/>
          </a:xfrm>
          <a:prstGeom prst="rect">
            <a:avLst/>
          </a:prstGeom>
          <a:solidFill>
            <a:srgbClr val="2474A6"/>
          </a:solidFill>
          <a:ln w="12700">
            <a:solidFill>
              <a:srgbClr val="247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32278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AzureBlobAppointmentSummaryHandler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069848" y="3566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Zapisuje podsumowanie wizyty do Blob Storage.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480560" y="306324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3063240"/>
            <a:ext cx="73152" cy="1234440"/>
          </a:xfrm>
          <a:prstGeom prst="rect">
            <a:avLst/>
          </a:prstGeom>
          <a:solidFill>
            <a:srgbClr val="E28A3B"/>
          </a:solidFill>
          <a:ln w="12700">
            <a:solidFill>
              <a:srgbClr val="E28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32278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AzureQueueAppointmentBookedHandler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681728" y="3566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Wrzuca wiadomość do kolejki, aby Function wysłała mail.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092440" y="3063240"/>
            <a:ext cx="3063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3063240"/>
            <a:ext cx="73152" cy="1234440"/>
          </a:xfrm>
          <a:prstGeom prst="rect">
            <a:avLst/>
          </a:prstGeom>
          <a:solidFill>
            <a:srgbClr val="49B6D6"/>
          </a:solidFill>
          <a:ln w="12700">
            <a:solidFill>
              <a:srgbClr val="49B6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3227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SignalRAppointmentBookedHandler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293608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Wysyła powiadomienie realtime do podłączonych klientów.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6172200" y="1325880"/>
            <a:ext cx="448056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240" dirty="0">
                <a:solidFill>
                  <a:srgbClr val="1F2933"/>
                </a:solidFill>
              </a:rPr>
              <a:t>Publisher nie wie, która implementacja jest aktualnie wykonywana.</a:t>
            </a:r>
            <a:endParaRPr lang="en-US" sz="1240" dirty="0"/>
          </a:p>
          <a:p>
            <a:r>
              <a:rPr lang="en-US" sz="1240" dirty="0">
                <a:solidFill>
                  <a:srgbClr val="1F2933"/>
                </a:solidFill>
              </a:rPr>
              <a:t>Każdy handler ma wspólny kontrakt, ale inne zadanie.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Strategy / Handler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Factory Method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BookingEntityFactory centralizuje tworzenie encji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623560" cy="3703320"/>
          </a:xfrm>
          <a:prstGeom prst="roundRect">
            <a:avLst>
              <a:gd name="adj" fmla="val 98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99032"/>
            <a:ext cx="5294376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 BookingEntity Create(EntityKind kind) =&gt; kind switch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EntityKind.Customer =&gt; new Customer(),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EntityKind.Hairdresser =&gt; new Hairdresser(),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EntityKind.SalonService =&gt; new SalonService(),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EntityKind.Appointment =&gt; new Appointment(),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EntityKind.SalonPhoto =&gt; new SalonPhoto(),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EntityKind.AppUser =&gt; new AppUser(),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_ =&gt; throw new ArgumentOutOfRangeException(...)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};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6903720" y="15087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1508760"/>
            <a:ext cx="73152" cy="1417320"/>
          </a:xfrm>
          <a:prstGeom prst="rect">
            <a:avLst/>
          </a:prstGeom>
          <a:solidFill>
            <a:srgbClr val="5AA469"/>
          </a:solidFill>
          <a:ln w="12700">
            <a:solidFill>
              <a:srgbClr val="5AA4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04888" y="167335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Po co?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104888" y="20116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Tworzenie encji domenowych jest w jednym miejscu. Łatwiej dodać nowy typ i utrzymać spójność modeli.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903720" y="342900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3429000"/>
            <a:ext cx="73152" cy="1051560"/>
          </a:xfrm>
          <a:prstGeom prst="rect">
            <a:avLst/>
          </a:prstGeom>
          <a:solidFill>
            <a:srgbClr val="2474A6"/>
          </a:solidFill>
          <a:ln w="12700">
            <a:solidFill>
              <a:srgbClr val="247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04888" y="359359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Przykładowe encje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104888" y="3931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Customer, Hairdresser, SalonService, Appointment, SalonPhoto, AppUser.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Factory Method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Adapter / Wrapper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Integracje Azure są ukryte za interfejsami aplikacji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57784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89888"/>
            <a:ext cx="19522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IPhotoStorageService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851099" y="1389888"/>
            <a:ext cx="317936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BlobPhotoStorageService ukrywa BlobContainerClient i upload plików.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557784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75688"/>
            <a:ext cx="19522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ICurrentUserService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51099" y="2075688"/>
            <a:ext cx="317936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EasyAuthCurrentUserService ukrywa nagłówki Easy Auth.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5577840" cy="0"/>
          </a:xfrm>
          <a:prstGeom prst="line">
            <a:avLst/>
          </a:prstGeom>
          <a:noFill/>
          <a:ln w="635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61488"/>
            <a:ext cx="19522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83A59"/>
                </a:solidFill>
              </a:rPr>
              <a:t>IEmailSender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51099" y="2761488"/>
            <a:ext cx="317936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AzureCommunicationEmailSender ukrywa EmailClient i ACS Email.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903720" y="141732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03720" y="1417320"/>
            <a:ext cx="73152" cy="1508760"/>
          </a:xfrm>
          <a:prstGeom prst="rect">
            <a:avLst/>
          </a:prstGeom>
          <a:solidFill>
            <a:srgbClr val="E28A3B"/>
          </a:solidFill>
          <a:ln w="12700">
            <a:solidFill>
              <a:srgbClr val="E28A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04888" y="15819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Korzyść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7104888" y="1920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Gdyby technologia zewnętrzna się zmieniła, reszta aplikacji nadal mogłaby używać tego samego interfejsu.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903720" y="3520440"/>
            <a:ext cx="3886200" cy="1051560"/>
          </a:xfrm>
          <a:prstGeom prst="roundRect">
            <a:avLst>
              <a:gd name="adj" fmla="val 34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68312" y="3685032"/>
            <a:ext cx="35570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 interface IPhotoStorageService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Task&lt;UploadedPhoto&gt; UploadAsync(...);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Task DeleteAsync(...);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Adapter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Dependency Injection i Singleton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Wzorce spinające całą aplikację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6035040" cy="2148840"/>
          </a:xfrm>
          <a:prstGeom prst="roundRect">
            <a:avLst>
              <a:gd name="adj" fmla="val 1702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490472"/>
            <a:ext cx="570585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services.AddScoped&lt;IAppointmentBookingFacade, AppointmentBookingFacade&gt;();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services.AddScoped&lt;IBookingEventPublisher, BookingEventPublisher&gt;();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services.AddScoped(typeof(IBookingRepository&lt;&gt;), typeof(CosmosBookingRepository&lt;&gt;));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services.AddSingleton(_ =&gt; new CosmosClient(options.Cosmos.ConnectionString));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services.AddSingleton&lt;ICosmosContainerResolver, CosmosContainerResolver&gt;();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7315200" y="1417320"/>
            <a:ext cx="3520440" cy="2606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220" dirty="0">
                <a:solidFill>
                  <a:srgbClr val="1F2933"/>
                </a:solidFill>
              </a:rPr>
              <a:t>Klasy dostają zależności przez konstruktory.</a:t>
            </a:r>
            <a:endParaRPr lang="en-US" sz="1220" dirty="0"/>
          </a:p>
          <a:p>
            <a:r>
              <a:rPr lang="en-US" sz="1220" dirty="0">
                <a:solidFill>
                  <a:srgbClr val="1F2933"/>
                </a:solidFill>
              </a:rPr>
              <a:t>Implementacje można podmieniać przez interfejsy.</a:t>
            </a:r>
            <a:endParaRPr lang="en-US" sz="1220" dirty="0"/>
          </a:p>
          <a:p>
            <a:r>
              <a:rPr lang="en-US" sz="1220" dirty="0">
                <a:solidFill>
                  <a:srgbClr val="1F2933"/>
                </a:solidFill>
              </a:rPr>
              <a:t>CosmosClient jest singletonem, bo powinien być współdzielony.</a:t>
            </a:r>
            <a:endParaRPr lang="en-US" sz="1220" dirty="0"/>
          </a:p>
          <a:p>
            <a:r>
              <a:rPr lang="en-US" sz="1220" dirty="0">
                <a:solidFill>
                  <a:srgbClr val="1F2933"/>
                </a:solidFill>
              </a:rPr>
              <a:t>DI rejestruje też wiele handlerów tego samego interfejsu.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Dependency Injection / Singleton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Iterator i Options Pattern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Mniejsze wzorce wspierające czytelność kodu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45720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73152" cy="1554480"/>
          </a:xfrm>
          <a:prstGeom prst="rect">
            <a:avLst/>
          </a:prstGeom>
          <a:solidFill>
            <a:srgbClr val="5AA469"/>
          </a:solidFill>
          <a:ln w="12700">
            <a:solidFill>
              <a:srgbClr val="5AA4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58191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Iterator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024128" y="192024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AvailabilitySlotCollection implementuje IEnumerable&lt;DateTimeOffset&gt;, dzięki czemu sloty wizyt można filtrować LINQ.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822960" y="3383280"/>
            <a:ext cx="4572000" cy="960120"/>
          </a:xfrm>
          <a:prstGeom prst="roundRect">
            <a:avLst>
              <a:gd name="adj" fmla="val 381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547872"/>
            <a:ext cx="42428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 sealed class AvailabilitySlotCollection : IEnumerable&lt;DateTimeOffset&gt;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public IEnumerator&lt;DateTimeOffset&gt; GetEnumerator() =&gt; _slots.GetEnumerator();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45720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417320"/>
            <a:ext cx="73152" cy="1554480"/>
          </a:xfrm>
          <a:prstGeom prst="rect">
            <a:avLst/>
          </a:prstGeom>
          <a:solidFill>
            <a:srgbClr val="2474A6"/>
          </a:solidFill>
          <a:ln w="12700">
            <a:solidFill>
              <a:srgbClr val="247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58191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Options Pattern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419088" y="192024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AzureBookingOptions i EmailOptions mapują konfigurację z appsettings lub zmiennych Azure na klasy C#.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217920" y="3383280"/>
            <a:ext cx="4572000" cy="777240"/>
          </a:xfrm>
          <a:prstGeom prst="roundRect">
            <a:avLst>
              <a:gd name="adj" fmla="val 470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3547872"/>
            <a:ext cx="42428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services.Configure&lt;AzureBookingOptions&gt;(configuration.GetSection("Azure"));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services.Configure&lt;EmailOptions&gt;(context.Configuration.GetSection("Email"));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Iterator / Options Pattern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Jak wzorce współpracują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Przepływ POST /api/Appointments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2474A6"/>
          </a:solidFill>
          <a:ln w="12700">
            <a:solidFill>
              <a:srgbClr val="247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2084832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Controller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DI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1828800" y="2176272"/>
            <a:ext cx="411480" cy="164592"/>
          </a:xfrm>
          <a:prstGeom prst="rightArrow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192024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5AA469"/>
          </a:solidFill>
          <a:ln w="12700">
            <a:solidFill>
              <a:srgbClr val="5AA4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4872" y="2084832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Facade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BookAsync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3749040" y="2176272"/>
            <a:ext cx="411480" cy="164592"/>
          </a:xfrm>
          <a:prstGeom prst="rightArrow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92024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183A59"/>
          </a:solidFill>
          <a:ln w="12700">
            <a:solidFill>
              <a:srgbClr val="183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2084832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Repository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Cosmos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669280" y="2176272"/>
            <a:ext cx="411480" cy="164592"/>
          </a:xfrm>
          <a:prstGeom prst="rightArrow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92024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E28A3B"/>
          </a:solidFill>
          <a:ln w="12700">
            <a:solidFill>
              <a:srgbClr val="E28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2084832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Observer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Publisher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589520" y="2176272"/>
            <a:ext cx="411480" cy="164592"/>
          </a:xfrm>
          <a:prstGeom prst="rightArrow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92024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49B6D6"/>
          </a:solidFill>
          <a:ln w="12700">
            <a:solidFill>
              <a:srgbClr val="49B6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65592" y="2084832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Handlers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Strategy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9509760" y="2176272"/>
            <a:ext cx="411480" cy="164592"/>
          </a:xfrm>
          <a:prstGeom prst="rightArrow">
            <a:avLst/>
          </a:prstGeom>
          <a:solidFill>
            <a:srgbClr val="D8E1E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1268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85832" y="2084832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Azure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Adapters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1051560" y="3749040"/>
            <a:ext cx="94640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3749040"/>
            <a:ext cx="73152" cy="1143000"/>
          </a:xfrm>
          <a:prstGeom prst="rect">
            <a:avLst/>
          </a:prstGeom>
          <a:solidFill>
            <a:srgbClr val="5AA469"/>
          </a:solidFill>
          <a:ln w="12700">
            <a:solidFill>
              <a:srgbClr val="5AA4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52728" y="39136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Wniosek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1252728" y="4251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Każdy wzorzec ma konkretne miejsce w procesie: od requestu HTTP, przez logikę biznesową, po reakcje chmurowe.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Przepływ wzorców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powiedzieć prowadzącemu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Krótka odpowiedź obronna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89611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80" dirty="0">
                <a:solidFill>
                  <a:srgbClr val="1F2933"/>
                </a:solidFill>
              </a:rPr>
              <a:t>Facade: kontroler wywołuje BookAsync, a proces rezerwacji jest ukryty w jednej klasie.</a:t>
            </a:r>
            <a:endParaRPr lang="en-US" sz="1380" dirty="0"/>
          </a:p>
          <a:p>
            <a:r>
              <a:rPr lang="en-US" sz="1380" dirty="0">
                <a:solidFill>
                  <a:srgbClr val="1F2933"/>
                </a:solidFill>
              </a:rPr>
              <a:t>Repository: kontrolery nie znają szczegółów Cosmos DB.</a:t>
            </a:r>
            <a:endParaRPr lang="en-US" sz="1380" dirty="0"/>
          </a:p>
          <a:p>
            <a:r>
              <a:rPr lang="en-US" sz="1380" dirty="0">
                <a:solidFill>
                  <a:srgbClr val="1F2933"/>
                </a:solidFill>
              </a:rPr>
              <a:t>Observer/Event: po utworzeniu wizyty wiele komponentów może zareagować niezależnie.</a:t>
            </a:r>
            <a:endParaRPr lang="en-US" sz="1380" dirty="0"/>
          </a:p>
          <a:p>
            <a:r>
              <a:rPr lang="en-US" sz="1380" dirty="0">
                <a:solidFill>
                  <a:srgbClr val="1F2933"/>
                </a:solidFill>
              </a:rPr>
              <a:t>Strategy/Handler: Blob, Queue i SignalR mają ten sam interfejs, ale różne zachowania.</a:t>
            </a:r>
            <a:endParaRPr lang="en-US" sz="1380" dirty="0"/>
          </a:p>
          <a:p>
            <a:r>
              <a:rPr lang="en-US" sz="1380" dirty="0">
                <a:solidFill>
                  <a:srgbClr val="1F2933"/>
                </a:solidFill>
              </a:rPr>
              <a:t>Factory Method: tworzenie encji domenowych jest scentralizowane.</a:t>
            </a:r>
            <a:endParaRPr lang="en-US" sz="1380" dirty="0"/>
          </a:p>
          <a:p>
            <a:r>
              <a:rPr lang="en-US" sz="1380" dirty="0">
                <a:solidFill>
                  <a:srgbClr val="1F2933"/>
                </a:solidFill>
              </a:rPr>
              <a:t>Adapter: szczegóły Azure SDK są ukryte za interfejsami aplikacji.</a:t>
            </a:r>
            <a:endParaRPr lang="en-US" sz="138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Odpowiedzi na pytania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Podsumowanie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Wzorce porządkują projekt, a nie tylko ozdabiają kod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3108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73152" cy="1234440"/>
          </a:xfrm>
          <a:prstGeom prst="rect">
            <a:avLst/>
          </a:prstGeom>
          <a:solidFill>
            <a:srgbClr val="2474A6"/>
          </a:solidFill>
          <a:ln w="12700">
            <a:solidFill>
              <a:srgbClr val="247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58191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Czytelność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024128" y="1920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Kontrolery pozostają krótkie i odpowiadają za HTTP.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526280" y="1417320"/>
            <a:ext cx="3108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417320"/>
            <a:ext cx="73152" cy="1234440"/>
          </a:xfrm>
          <a:prstGeom prst="rect">
            <a:avLst/>
          </a:prstGeom>
          <a:solidFill>
            <a:srgbClr val="5AA469"/>
          </a:solidFill>
          <a:ln w="12700">
            <a:solidFill>
              <a:srgbClr val="5AA4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58191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Rozszerzalność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727448" y="1920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Nową reakcję po wizycie można dodać jako nowy handler.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28803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417320"/>
            <a:ext cx="73152" cy="1234440"/>
          </a:xfrm>
          <a:prstGeom prst="rect">
            <a:avLst/>
          </a:prstGeom>
          <a:solidFill>
            <a:srgbClr val="E28A3B"/>
          </a:solidFill>
          <a:ln w="12700">
            <a:solidFill>
              <a:srgbClr val="E28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0768" y="1581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3A59"/>
                </a:solidFill>
              </a:rPr>
              <a:t>Integracje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430768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933"/>
                </a:solidFill>
              </a:rPr>
              <a:t>Azure jest ukryty za adapterami i konfiguracją Options.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0160">
            <a:solidFill>
              <a:srgbClr val="D8E1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65379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Podsumowanie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10996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University of Gdansk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HairSalon Booking</dc:subject>
  <dc:creator>Wiktor Gochnio</dc:creator>
  <cp:lastModifiedBy>Wiktor Gochnio</cp:lastModifiedBy>
  <cp:revision>1</cp:revision>
  <dcterms:created xsi:type="dcterms:W3CDTF">2026-05-18T16:29:34Z</dcterms:created>
  <dcterms:modified xsi:type="dcterms:W3CDTF">2026-05-18T16:29:34Z</dcterms:modified>
</cp:coreProperties>
</file>