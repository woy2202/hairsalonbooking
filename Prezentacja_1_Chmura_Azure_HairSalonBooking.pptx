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 przepływie mailowym API nie wysyła maila bezpośrednio. API zapisuje wizytę i wrzuca komunikat do kolejki, a Function App wysyła email w 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Najważniejsze zdanie: aplikacja nie jest tylko CRUD-em, bo używa kilku usług chmurowych współpracujących w jednym przepływie rezerwacji.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83A59"/>
          </a:solidFill>
          <a:ln w="12700">
            <a:solidFill>
              <a:srgbClr val="183A5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029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HairSalon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Booking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40280" y="4315968"/>
            <a:ext cx="2011680" cy="2011680"/>
          </a:xfrm>
          <a:prstGeom prst="arc">
            <a:avLst/>
          </a:prstGeom>
          <a:noFill/>
          <a:ln w="27940">
            <a:solidFill>
              <a:srgbClr val="49B6D6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5760720"/>
            <a:ext cx="2377440" cy="0"/>
          </a:xfrm>
          <a:prstGeom prst="line">
            <a:avLst/>
          </a:prstGeom>
          <a:noFill/>
          <a:ln w="25400">
            <a:solidFill>
              <a:srgbClr val="49B6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17720" y="9601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74A6"/>
                </a:solidFill>
              </a:rPr>
              <a:t>RAPORT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0" y="141732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Raport projektu: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chmura Azure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617720" y="297180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Architektura i funkcjonalność backendu salonu fryzjerskiego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617720" y="4023360"/>
            <a:ext cx="2011680" cy="0"/>
          </a:xfrm>
          <a:prstGeom prst="line">
            <a:avLst/>
          </a:prstGeom>
          <a:noFill/>
          <a:ln w="38100">
            <a:solidFill>
              <a:srgbClr val="E28A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48463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Projekt C# / .NET 8 / Azure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18.05.2026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A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Cel projektu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Co aplikacja ma pokazać z perspektywy chmury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5577840" cy="3749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500" dirty="0">
                <a:solidFill>
                  <a:srgbClr val="1F2933"/>
                </a:solidFill>
              </a:rPr>
              <a:t>Backend salonu fryzjerskiego do umawiania i zarządzania wizytami.</a:t>
            </a:r>
            <a:endParaRPr lang="en-US" sz="1500" dirty="0"/>
          </a:p>
          <a:p>
            <a:r>
              <a:rPr lang="en-US" sz="1500" dirty="0">
                <a:solidFill>
                  <a:srgbClr val="1F2933"/>
                </a:solidFill>
              </a:rPr>
              <a:t>Pełny CRUD dla klientów, fryzjerów, usług i wizyt testowany w Swaggerze.</a:t>
            </a:r>
            <a:endParaRPr lang="en-US" sz="1500" dirty="0"/>
          </a:p>
          <a:p>
            <a:r>
              <a:rPr lang="en-US" sz="1500" dirty="0">
                <a:solidFill>
                  <a:srgbClr val="1F2933"/>
                </a:solidFill>
              </a:rPr>
              <a:t>Dane przechowywane w Azure Cosmos DB w osobnych kontenerach.</a:t>
            </a:r>
            <a:endParaRPr lang="en-US" sz="1500" dirty="0"/>
          </a:p>
          <a:p>
            <a:r>
              <a:rPr lang="en-US" sz="1500" dirty="0">
                <a:solidFill>
                  <a:srgbClr val="1F2933"/>
                </a:solidFill>
              </a:rPr>
              <a:t>Zadania poboczne, takie jak email, przeniesione do kolejki i Azure Functions.</a:t>
            </a:r>
            <a:endParaRPr lang="en-US" sz="1500" dirty="0"/>
          </a:p>
          <a:p>
            <a:r>
              <a:rPr lang="en-US" sz="1500" dirty="0">
                <a:solidFill>
                  <a:srgbClr val="1F2933"/>
                </a:solidFill>
              </a:rPr>
              <a:t>Powiadomienia realtime przez Azure SignalR Service.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38912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12280" y="1417320"/>
            <a:ext cx="73152" cy="1828800"/>
          </a:xfrm>
          <a:prstGeom prst="rect">
            <a:avLst/>
          </a:prstGeom>
          <a:solidFill>
            <a:srgbClr val="5AA469"/>
          </a:solidFill>
          <a:ln w="12700">
            <a:solidFill>
              <a:srgbClr val="5AA4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13448" y="1581912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83A59"/>
                </a:solidFill>
              </a:rPr>
              <a:t>Efekt końcowy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7013448" y="192024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3"/>
                </a:solidFill>
              </a:rPr>
              <a:t>Po utworzeniu wizyty klient otrzymuje mail z potwierdzeniem, a aplikacja może równolegle wysłać powiadomienie realtime do panelu/fryzjera.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6812280" y="3566160"/>
            <a:ext cx="438912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12280" y="3566160"/>
            <a:ext cx="73152" cy="1645920"/>
          </a:xfrm>
          <a:prstGeom prst="rect">
            <a:avLst/>
          </a:prstGeom>
          <a:solidFill>
            <a:srgbClr val="2474A6"/>
          </a:solidFill>
          <a:ln w="12700">
            <a:solidFill>
              <a:srgbClr val="2474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13448" y="3730752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83A59"/>
                </a:solidFill>
              </a:rPr>
              <a:t>Zakres demonstracji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7013448" y="4069080"/>
            <a:ext cx="4069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3"/>
                </a:solidFill>
              </a:rPr>
              <a:t>Projekt pokazuje App Service, Cosmos DB, Storage Queue, Blob Storage, Function App, SignalR, Easy Auth, Key Vault i monitoring.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0160">
            <a:solidFill>
              <a:srgbClr val="D8E1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53796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HairSalon Booking / raport chmurowy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109960" y="65105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A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Architektura rozwiązania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Jak komponenty Azure współpracują po utworzeniu wizyty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1417320" cy="685800"/>
          </a:xfrm>
          <a:prstGeom prst="roundRect">
            <a:avLst>
              <a:gd name="adj" fmla="val 10667"/>
            </a:avLst>
          </a:prstGeom>
          <a:solidFill>
            <a:srgbClr val="2474A6"/>
          </a:solidFill>
          <a:ln w="12700">
            <a:solidFill>
              <a:srgbClr val="2474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993392"/>
            <a:ext cx="1271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</a:rPr>
              <a:t>Swagger / frontend</a:t>
            </a:r>
            <a:endParaRPr lang="en-US" sz="1030" dirty="0"/>
          </a:p>
        </p:txBody>
      </p:sp>
      <p:sp>
        <p:nvSpPr>
          <p:cNvPr id="6" name="Shape 4"/>
          <p:cNvSpPr/>
          <p:nvPr/>
        </p:nvSpPr>
        <p:spPr>
          <a:xfrm>
            <a:off x="2084832" y="2084832"/>
            <a:ext cx="502920" cy="164592"/>
          </a:xfrm>
          <a:prstGeom prst="rightArrow">
            <a:avLst/>
          </a:prstGeom>
          <a:solidFill>
            <a:srgbClr val="D8E1E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97480" y="1719072"/>
            <a:ext cx="1417320" cy="685800"/>
          </a:xfrm>
          <a:prstGeom prst="roundRect">
            <a:avLst>
              <a:gd name="adj" fmla="val 10667"/>
            </a:avLst>
          </a:prstGeom>
          <a:solidFill>
            <a:srgbClr val="183A59"/>
          </a:solidFill>
          <a:ln w="12700">
            <a:solidFill>
              <a:srgbClr val="183A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70632" y="1883664"/>
            <a:ext cx="1271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</a:rPr>
              <a:t>App Service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</a:rPr>
              <a:t>booking-api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4187952" y="2084832"/>
            <a:ext cx="502920" cy="164592"/>
          </a:xfrm>
          <a:prstGeom prst="rightArrow">
            <a:avLst/>
          </a:prstGeom>
          <a:solidFill>
            <a:srgbClr val="D8E1E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86868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5AA469"/>
          </a:solidFill>
          <a:ln w="12700">
            <a:solidFill>
              <a:srgbClr val="5AA4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1033272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</a:rPr>
              <a:t>Cosmos DB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4800600" y="173736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5AA469"/>
          </a:solidFill>
          <a:ln w="12700">
            <a:solidFill>
              <a:srgbClr val="5AA4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901952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</a:rPr>
              <a:t>Blob Storage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4800600" y="260604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5AA469"/>
          </a:solidFill>
          <a:ln w="12700">
            <a:solidFill>
              <a:srgbClr val="5AA4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3752" y="2770632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</a:rPr>
              <a:t>Queue Storage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6199632" y="2862072"/>
            <a:ext cx="594360" cy="164592"/>
          </a:xfrm>
          <a:prstGeom prst="rightArrow">
            <a:avLst/>
          </a:prstGeom>
          <a:solidFill>
            <a:srgbClr val="D8E1E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03720" y="2487168"/>
            <a:ext cx="1645920" cy="685800"/>
          </a:xfrm>
          <a:prstGeom prst="roundRect">
            <a:avLst>
              <a:gd name="adj" fmla="val 10667"/>
            </a:avLst>
          </a:prstGeom>
          <a:solidFill>
            <a:srgbClr val="E28A3B"/>
          </a:solidFill>
          <a:ln w="12700">
            <a:solidFill>
              <a:srgbClr val="E28A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76872" y="2651760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</a:rPr>
              <a:t>Azure Function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</a:rPr>
              <a:t>booking-function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8668512" y="2862072"/>
            <a:ext cx="594360" cy="164592"/>
          </a:xfrm>
          <a:prstGeom prst="rightArrow">
            <a:avLst/>
          </a:prstGeom>
          <a:solidFill>
            <a:srgbClr val="D8E1E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72600" y="2487168"/>
            <a:ext cx="1325880" cy="685800"/>
          </a:xfrm>
          <a:prstGeom prst="roundRect">
            <a:avLst>
              <a:gd name="adj" fmla="val 10667"/>
            </a:avLst>
          </a:prstGeom>
          <a:solidFill>
            <a:srgbClr val="C75146"/>
          </a:solidFill>
          <a:ln w="12700">
            <a:solidFill>
              <a:srgbClr val="C751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45752" y="2651760"/>
            <a:ext cx="1179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</a:rPr>
              <a:t>ACS Email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6903720" y="1325880"/>
            <a:ext cx="1645920" cy="685800"/>
          </a:xfrm>
          <a:prstGeom prst="roundRect">
            <a:avLst>
              <a:gd name="adj" fmla="val 10667"/>
            </a:avLst>
          </a:prstGeom>
          <a:solidFill>
            <a:srgbClr val="49B6D6"/>
          </a:solidFill>
          <a:ln w="12700">
            <a:solidFill>
              <a:srgbClr val="49B6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76872" y="1490472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</a:rPr>
              <a:t>SignalR</a:t>
            </a:r>
            <a:endParaRPr lang="en-US" sz="1030" dirty="0"/>
          </a:p>
        </p:txBody>
      </p:sp>
      <p:sp>
        <p:nvSpPr>
          <p:cNvPr id="25" name="Shape 22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0160">
            <a:solidFill>
              <a:srgbClr val="D8E1E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8640" y="653796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Architektura Azure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11109960" y="65105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A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Wybrane technologie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Dobór usług był podporządkowany wymaganiom projektu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5212080" cy="3520440"/>
          </a:xfrm>
          <a:prstGeom prst="roundRect">
            <a:avLst>
              <a:gd name="adj" fmla="val 103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35608"/>
            <a:ext cx="18242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83A59"/>
                </a:solidFill>
              </a:rPr>
              <a:t>ASP.NET Core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666390" y="1435608"/>
            <a:ext cx="297088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3"/>
                </a:solidFill>
              </a:rPr>
              <a:t>Kontrolery REST i Swagger dla pełnego CRUD.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5212080" cy="0"/>
          </a:xfrm>
          <a:prstGeom prst="line">
            <a:avLst/>
          </a:prstGeom>
          <a:noFill/>
          <a:ln w="6350">
            <a:solidFill>
              <a:srgbClr val="D8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38528"/>
            <a:ext cx="18242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83A59"/>
                </a:solidFill>
              </a:rPr>
              <a:t>Azure App Service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666390" y="1938528"/>
            <a:ext cx="297088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3"/>
                </a:solidFill>
              </a:rPr>
              <a:t>Hosting API bez zarządzania serwerem.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685800" y="2331720"/>
            <a:ext cx="5212080" cy="0"/>
          </a:xfrm>
          <a:prstGeom prst="line">
            <a:avLst/>
          </a:prstGeom>
          <a:noFill/>
          <a:ln w="6350">
            <a:solidFill>
              <a:srgbClr val="D8E1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441448"/>
            <a:ext cx="18242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83A59"/>
                </a:solidFill>
              </a:rPr>
              <a:t>Cosmos DB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666390" y="2441448"/>
            <a:ext cx="297088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3"/>
                </a:solidFill>
              </a:rPr>
              <a:t>Dokumentowa baza JSON dla klientów, wizyt i usług.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685800" y="2834640"/>
            <a:ext cx="5212080" cy="0"/>
          </a:xfrm>
          <a:prstGeom prst="line">
            <a:avLst/>
          </a:prstGeom>
          <a:noFill/>
          <a:ln w="6350">
            <a:solidFill>
              <a:srgbClr val="D8E1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944368"/>
            <a:ext cx="18242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83A59"/>
                </a:solidFill>
              </a:rPr>
              <a:t>Storage Queue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666390" y="2944368"/>
            <a:ext cx="297088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3"/>
                </a:solidFill>
              </a:rPr>
              <a:t>Oddzielenie rezerwacji od wysyłki maila.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685800" y="3337560"/>
            <a:ext cx="5212080" cy="0"/>
          </a:xfrm>
          <a:prstGeom prst="line">
            <a:avLst/>
          </a:prstGeom>
          <a:noFill/>
          <a:ln w="6350">
            <a:solidFill>
              <a:srgbClr val="D8E1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447288"/>
            <a:ext cx="18242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83A59"/>
                </a:solidFill>
              </a:rPr>
              <a:t>Azure Functions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666390" y="3447288"/>
            <a:ext cx="297088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3"/>
                </a:solidFill>
              </a:rPr>
              <a:t>Serverless obsługujący komunikaty z kolejki.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685800" y="3840480"/>
            <a:ext cx="5212080" cy="0"/>
          </a:xfrm>
          <a:prstGeom prst="line">
            <a:avLst/>
          </a:prstGeom>
          <a:noFill/>
          <a:ln w="6350">
            <a:solidFill>
              <a:srgbClr val="D8E1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950208"/>
            <a:ext cx="18242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83A59"/>
                </a:solidFill>
              </a:rPr>
              <a:t>SignalR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666390" y="3950208"/>
            <a:ext cx="297088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3"/>
                </a:solidFill>
              </a:rPr>
              <a:t>Powiadomienia realtime po utworzeniu wizyty.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685800" y="4343400"/>
            <a:ext cx="5212080" cy="0"/>
          </a:xfrm>
          <a:prstGeom prst="line">
            <a:avLst/>
          </a:prstGeom>
          <a:noFill/>
          <a:ln w="6350">
            <a:solidFill>
              <a:srgbClr val="D8E1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453128"/>
            <a:ext cx="18242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83A59"/>
                </a:solidFill>
              </a:rPr>
              <a:t>ACS Email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666390" y="4453128"/>
            <a:ext cx="297088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3"/>
                </a:solidFill>
              </a:rPr>
              <a:t>Potwierdzenia wizyt wysyłane do klienta.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6537960" y="1325880"/>
            <a:ext cx="4434840" cy="3566160"/>
          </a:xfrm>
          <a:prstGeom prst="roundRect">
            <a:avLst>
              <a:gd name="adj" fmla="val 1538"/>
            </a:avLst>
          </a:prstGeom>
          <a:solidFill>
            <a:srgbClr val="F8FAFC"/>
          </a:solidFill>
          <a:ln w="15240">
            <a:solidFill>
              <a:srgbClr val="D8E1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1554480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74A6"/>
                </a:solidFill>
              </a:rPr>
              <a:t>[Zrzut ekranu]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8000" y="2011680"/>
            <a:ext cx="37947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64748B"/>
                </a:solidFill>
              </a:rPr>
              <a:t>Wstaw opcjonalnie zrzut z listą zasobów w Azure Portal.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0160">
            <a:solidFill>
              <a:srgbClr val="D8E1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653796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Technologie i uzasadnienie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109960" y="65105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A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Zasoby w Azure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Grupa zasobów Booking</a:t>
            </a:r>
            <a:endParaRPr lang="en-US" sz="1050" dirty="0"/>
          </a:p>
        </p:txBody>
      </p:sp>
      <p:pic>
        <p:nvPicPr>
          <p:cNvPr id="4" name="Image 0" descr="C:\Users\woy22\Downloads\azu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6583680" cy="3703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1371600"/>
            <a:ext cx="3429000" cy="2926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220" dirty="0">
                <a:solidFill>
                  <a:srgbClr val="1F2933"/>
                </a:solidFill>
              </a:rPr>
              <a:t>booking-api jako App Service.</a:t>
            </a:r>
            <a:endParaRPr lang="en-US" sz="1220" dirty="0"/>
          </a:p>
          <a:p>
            <a:r>
              <a:rPr lang="en-US" sz="1220" dirty="0">
                <a:solidFill>
                  <a:srgbClr val="1F2933"/>
                </a:solidFill>
              </a:rPr>
              <a:t>booking-db jako konto Azure Cosmos DB.</a:t>
            </a:r>
            <a:endParaRPr lang="en-US" sz="1220" dirty="0"/>
          </a:p>
          <a:p>
            <a:r>
              <a:rPr lang="en-US" sz="1220" dirty="0">
                <a:solidFill>
                  <a:srgbClr val="1F2933"/>
                </a:solidFill>
              </a:rPr>
              <a:t>booking-function jako Function App.</a:t>
            </a:r>
            <a:endParaRPr lang="en-US" sz="1220" dirty="0"/>
          </a:p>
          <a:p>
            <a:r>
              <a:rPr lang="en-US" sz="1220" dirty="0">
                <a:solidFill>
                  <a:srgbClr val="1F2933"/>
                </a:solidFill>
              </a:rPr>
              <a:t>bookingfryzjer jako Storage Account.</a:t>
            </a:r>
            <a:endParaRPr lang="en-US" sz="1220" dirty="0"/>
          </a:p>
          <a:p>
            <a:r>
              <a:rPr lang="en-US" sz="1220" dirty="0">
                <a:solidFill>
                  <a:srgbClr val="1F2933"/>
                </a:solidFill>
              </a:rPr>
              <a:t>Azure SignalR i ACS Email jako usługi dodatkowe.</a:t>
            </a:r>
            <a:endParaRPr lang="en-US" sz="1220" dirty="0"/>
          </a:p>
        </p:txBody>
      </p:sp>
      <p:sp>
        <p:nvSpPr>
          <p:cNvPr id="6" name="Shape 3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0160">
            <a:solidFill>
              <a:srgbClr val="D8E1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653796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Azure Portal / grupa zasobów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109960" y="65105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A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Cosmos DB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Baza dokumentowa dopasowana do modelu aplikacji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5349240" cy="329184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344168"/>
            <a:ext cx="18722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83A59"/>
                </a:solidFill>
              </a:rPr>
              <a:t>customers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764231" y="1344168"/>
            <a:ext cx="304906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3"/>
                </a:solidFill>
              </a:rPr>
              <a:t>Klienci salonu i dane kontaktowe.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731520" y="1783080"/>
            <a:ext cx="5349240" cy="0"/>
          </a:xfrm>
          <a:prstGeom prst="line">
            <a:avLst/>
          </a:prstGeom>
          <a:noFill/>
          <a:ln w="6350">
            <a:solidFill>
              <a:srgbClr val="D8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892808"/>
            <a:ext cx="18722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83A59"/>
                </a:solidFill>
              </a:rPr>
              <a:t>barbers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64231" y="1892808"/>
            <a:ext cx="304906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3"/>
                </a:solidFill>
              </a:rPr>
              <a:t>Fryzjerzy, specjalizacja, status aktywności.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731520" y="2331720"/>
            <a:ext cx="5349240" cy="0"/>
          </a:xfrm>
          <a:prstGeom prst="line">
            <a:avLst/>
          </a:prstGeom>
          <a:noFill/>
          <a:ln w="6350">
            <a:solidFill>
              <a:srgbClr val="D8E1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441448"/>
            <a:ext cx="18722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83A59"/>
                </a:solidFill>
              </a:rPr>
              <a:t>services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64231" y="2441448"/>
            <a:ext cx="304906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3"/>
                </a:solidFill>
              </a:rPr>
              <a:t>Usługi, czas trwania, cena, dostępność.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731520" y="2880360"/>
            <a:ext cx="5349240" cy="0"/>
          </a:xfrm>
          <a:prstGeom prst="line">
            <a:avLst/>
          </a:prstGeom>
          <a:noFill/>
          <a:ln w="6350">
            <a:solidFill>
              <a:srgbClr val="D8E1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990088"/>
            <a:ext cx="18722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83A59"/>
                </a:solidFill>
              </a:rPr>
              <a:t>appointments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764231" y="2990088"/>
            <a:ext cx="304906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3"/>
                </a:solidFill>
              </a:rPr>
              <a:t>Wizyty i powiązania z klientem/fryzjerem/usługą.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731520" y="3429000"/>
            <a:ext cx="5349240" cy="0"/>
          </a:xfrm>
          <a:prstGeom prst="line">
            <a:avLst/>
          </a:prstGeom>
          <a:noFill/>
          <a:ln w="6350">
            <a:solidFill>
              <a:srgbClr val="D8E1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538728"/>
            <a:ext cx="18722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83A59"/>
                </a:solidFill>
              </a:rPr>
              <a:t>users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764231" y="3538728"/>
            <a:ext cx="304906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3"/>
                </a:solidFill>
              </a:rPr>
              <a:t>Konta aplikacji oraz role klient/fryzjer/admin.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731520" y="3977640"/>
            <a:ext cx="5349240" cy="0"/>
          </a:xfrm>
          <a:prstGeom prst="line">
            <a:avLst/>
          </a:prstGeom>
          <a:noFill/>
          <a:ln w="6350">
            <a:solidFill>
              <a:srgbClr val="D8E1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087368"/>
            <a:ext cx="187223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83A59"/>
                </a:solidFill>
              </a:rPr>
              <a:t>Partition key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64231" y="4087368"/>
            <a:ext cx="304906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3"/>
                </a:solidFill>
              </a:rPr>
              <a:t>We wszystkich kontenerach: /id.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6583680" y="1234440"/>
            <a:ext cx="4343400" cy="3566160"/>
          </a:xfrm>
          <a:prstGeom prst="roundRect">
            <a:avLst>
              <a:gd name="adj" fmla="val 1538"/>
            </a:avLst>
          </a:prstGeom>
          <a:solidFill>
            <a:srgbClr val="F8FAFC"/>
          </a:solidFill>
          <a:ln w="15240">
            <a:solidFill>
              <a:srgbClr val="D8E1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0840" y="146304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74A6"/>
                </a:solidFill>
              </a:rPr>
              <a:t>[Zrzut ekranu]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03720" y="1920240"/>
            <a:ext cx="370332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64748B"/>
                </a:solidFill>
              </a:rPr>
              <a:t>Wstaw zrzut Cosmos DB Data Explorer z kontenerami.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0160">
            <a:solidFill>
              <a:srgbClr val="D8E1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53796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Cosmos DB / Data Explorer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109960" y="65105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A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Logowanie i role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Easy Auth jako warstwa uwierzytelniania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338328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25880"/>
            <a:ext cx="73152" cy="1463040"/>
          </a:xfrm>
          <a:prstGeom prst="rect">
            <a:avLst/>
          </a:prstGeom>
          <a:solidFill>
            <a:srgbClr val="2474A6"/>
          </a:solidFill>
          <a:ln w="12700">
            <a:solidFill>
              <a:srgbClr val="2474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49047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83A59"/>
                </a:solidFill>
              </a:rPr>
              <a:t>Easy Auth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932688" y="18288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3"/>
                </a:solidFill>
              </a:rPr>
              <a:t>App Service Authentication przechwytuje request przed API i sprawdza, czy użytkownik jest zalogowany przez Google/GitHub.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4434840" y="1325880"/>
            <a:ext cx="338328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325880"/>
            <a:ext cx="73152" cy="1463040"/>
          </a:xfrm>
          <a:prstGeom prst="rect">
            <a:avLst/>
          </a:prstGeom>
          <a:solidFill>
            <a:srgbClr val="5AA469"/>
          </a:solidFill>
          <a:ln w="12700">
            <a:solidFill>
              <a:srgbClr val="5AA4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6008" y="149047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83A59"/>
                </a:solidFill>
              </a:rPr>
              <a:t>Backend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4636008" y="18288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3"/>
                </a:solidFill>
              </a:rPr>
              <a:t>API odczytuje nagłówki X-MS-CLIENT-PRINCIPAL i tworzy konto AppUser oraz Customer.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8138160" y="1325880"/>
            <a:ext cx="310896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325880"/>
            <a:ext cx="73152" cy="1463040"/>
          </a:xfrm>
          <a:prstGeom prst="rect">
            <a:avLst/>
          </a:prstGeom>
          <a:solidFill>
            <a:srgbClr val="E28A3B"/>
          </a:solidFill>
          <a:ln w="12700">
            <a:solidFill>
              <a:srgbClr val="E28A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9328" y="1490472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83A59"/>
                </a:solidFill>
              </a:rPr>
              <a:t>Role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8339328" y="182880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3"/>
                </a:solidFill>
              </a:rPr>
              <a:t>Klient rezerwuje wizyty, fryzjer przegląda swoje wizyty, admin zarządza użytkownikami i danymi.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914400" y="3337560"/>
            <a:ext cx="9966960" cy="150876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15240">
            <a:solidFill>
              <a:srgbClr val="D8E1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356616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74A6"/>
                </a:solidFill>
              </a:rPr>
              <a:t>[Zrzut ekranu]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023360"/>
            <a:ext cx="932688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64748B"/>
                </a:solidFill>
              </a:rPr>
              <a:t>Wstaw zrzut /api/Auth/me albo konfiguracji Authentication w App Service.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0160">
            <a:solidFill>
              <a:srgbClr val="D8E1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53796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Easy Auth / role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109960" y="65105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A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Kolejka, funkcja i email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Najważniejszy scenariusz chmurowy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325880" cy="685800"/>
          </a:xfrm>
          <a:prstGeom prst="roundRect">
            <a:avLst>
              <a:gd name="adj" fmla="val 10667"/>
            </a:avLst>
          </a:prstGeom>
          <a:solidFill>
            <a:srgbClr val="2474A6"/>
          </a:solidFill>
          <a:ln w="12700">
            <a:solidFill>
              <a:srgbClr val="2474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084832"/>
            <a:ext cx="1179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</a:rPr>
              <a:t>POST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</a:rPr>
              <a:t>/Appointments</a:t>
            </a:r>
            <a:endParaRPr lang="en-US" sz="1030" dirty="0"/>
          </a:p>
        </p:txBody>
      </p:sp>
      <p:sp>
        <p:nvSpPr>
          <p:cNvPr id="6" name="Shape 4"/>
          <p:cNvSpPr/>
          <p:nvPr/>
        </p:nvSpPr>
        <p:spPr>
          <a:xfrm>
            <a:off x="2057400" y="2176272"/>
            <a:ext cx="502920" cy="164592"/>
          </a:xfrm>
          <a:prstGeom prst="rightArrow">
            <a:avLst/>
          </a:prstGeom>
          <a:solidFill>
            <a:srgbClr val="D8E1E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51760" y="192024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5AA469"/>
          </a:solidFill>
          <a:ln w="12700">
            <a:solidFill>
              <a:srgbClr val="5AA4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24912" y="2084832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</a:rPr>
              <a:t>Save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</a:rPr>
              <a:t>Cosmos DB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3977640" y="2176272"/>
            <a:ext cx="502920" cy="164592"/>
          </a:xfrm>
          <a:prstGeom prst="rightArrow">
            <a:avLst/>
          </a:prstGeom>
          <a:solidFill>
            <a:srgbClr val="D8E1E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920240"/>
            <a:ext cx="1600200" cy="685800"/>
          </a:xfrm>
          <a:prstGeom prst="roundRect">
            <a:avLst>
              <a:gd name="adj" fmla="val 10667"/>
            </a:avLst>
          </a:prstGeom>
          <a:solidFill>
            <a:srgbClr val="E28A3B"/>
          </a:solidFill>
          <a:ln w="12700">
            <a:solidFill>
              <a:srgbClr val="E28A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2084832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</a:rPr>
              <a:t>Queue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</a:rPr>
              <a:t>booking-notifications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6263640" y="2176272"/>
            <a:ext cx="502920" cy="164592"/>
          </a:xfrm>
          <a:prstGeom prst="rightArrow">
            <a:avLst/>
          </a:prstGeom>
          <a:solidFill>
            <a:srgbClr val="D8E1E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0" y="1920240"/>
            <a:ext cx="1325880" cy="685800"/>
          </a:xfrm>
          <a:prstGeom prst="roundRect">
            <a:avLst>
              <a:gd name="adj" fmla="val 10667"/>
            </a:avLst>
          </a:prstGeom>
          <a:solidFill>
            <a:srgbClr val="183A59"/>
          </a:solidFill>
          <a:ln w="12700">
            <a:solidFill>
              <a:srgbClr val="183A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31152" y="2084832"/>
            <a:ext cx="1179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</a:rPr>
              <a:t>Function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</a:rPr>
              <a:t>trigger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8275320" y="2176272"/>
            <a:ext cx="502920" cy="164592"/>
          </a:xfrm>
          <a:prstGeom prst="rightArrow">
            <a:avLst/>
          </a:prstGeom>
          <a:solidFill>
            <a:srgbClr val="D8E1E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69680" y="1920240"/>
            <a:ext cx="1325880" cy="685800"/>
          </a:xfrm>
          <a:prstGeom prst="roundRect">
            <a:avLst>
              <a:gd name="adj" fmla="val 10667"/>
            </a:avLst>
          </a:prstGeom>
          <a:solidFill>
            <a:srgbClr val="C75146"/>
          </a:solidFill>
          <a:ln w="12700">
            <a:solidFill>
              <a:srgbClr val="C751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42832" y="2084832"/>
            <a:ext cx="1179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</a:rPr>
              <a:t>Email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</a:rPr>
              <a:t>DoNotReply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914400" y="3703320"/>
            <a:ext cx="93268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3703320"/>
            <a:ext cx="73152" cy="1188720"/>
          </a:xfrm>
          <a:prstGeom prst="rect">
            <a:avLst/>
          </a:prstGeom>
          <a:solidFill>
            <a:srgbClr val="5AA469"/>
          </a:solidFill>
          <a:ln w="12700">
            <a:solidFill>
              <a:srgbClr val="5AA4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15568" y="3867912"/>
            <a:ext cx="9006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83A59"/>
                </a:solidFill>
              </a:rPr>
              <a:t>Dlaczego tak?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1115568" y="4206240"/>
            <a:ext cx="9006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3"/>
                </a:solidFill>
              </a:rPr>
              <a:t>API szybko zapisuje wizytę, a mail jest zadaniem w tle. Jeśli email chwilowo nie działa, komunikat może trafić do poison queue i zostać zdiagnozowany.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0160">
            <a:solidFill>
              <a:srgbClr val="D8E1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653796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Queue Storage + Azure Functions + ACS Email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109960" y="65105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A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Blob Storage i SignalR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Dwa różne typy funkcji chmurowych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77240" y="1371600"/>
            <a:ext cx="470916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71600"/>
            <a:ext cx="73152" cy="1828800"/>
          </a:xfrm>
          <a:prstGeom prst="rect">
            <a:avLst/>
          </a:prstGeom>
          <a:solidFill>
            <a:srgbClr val="5AA469"/>
          </a:solidFill>
          <a:ln w="12700">
            <a:solidFill>
              <a:srgbClr val="5AA4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153619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83A59"/>
                </a:solidFill>
              </a:rPr>
              <a:t>Blob Storage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978408" y="1874520"/>
            <a:ext cx="4389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3"/>
                </a:solidFill>
              </a:rPr>
              <a:t>Przechowuje zdjęcia salonu i fryzjerów oraz pliki tekstowe z podsumowaniem wizyty. To miejsce na trwałe pliki.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6172200" y="1371600"/>
            <a:ext cx="470916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72200" y="1371600"/>
            <a:ext cx="73152" cy="1828800"/>
          </a:xfrm>
          <a:prstGeom prst="rect">
            <a:avLst/>
          </a:prstGeom>
          <a:solidFill>
            <a:srgbClr val="49B6D6"/>
          </a:solidFill>
          <a:ln w="12700">
            <a:solidFill>
              <a:srgbClr val="49B6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73368" y="153619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83A59"/>
                </a:solidFill>
              </a:rPr>
              <a:t>SignalR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6373368" y="1874520"/>
            <a:ext cx="4389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3"/>
                </a:solidFill>
              </a:rPr>
              <a:t>Wysyła natychmiastowe powiadomienie appointmentBooked do podłączonych klientów. To komunikacja realtime.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777240" y="3657600"/>
            <a:ext cx="470916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5240">
            <a:solidFill>
              <a:srgbClr val="D8E1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88620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74A6"/>
                </a:solidFill>
              </a:rPr>
              <a:t>[Zrzut ekranu]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4343400"/>
            <a:ext cx="40690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64748B"/>
                </a:solidFill>
              </a:rPr>
              <a:t>Wstaw zrzut strony /api/Notifications/signalr-test z działającym SignalR.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6172200" y="3657600"/>
            <a:ext cx="470916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5240">
            <a:solidFill>
              <a:srgbClr val="D8E1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388620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74A6"/>
                </a:solidFill>
              </a:rPr>
              <a:t>[Zrzut ekranu]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4343400"/>
            <a:ext cx="40690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64748B"/>
                </a:solidFill>
              </a:rPr>
              <a:t>Wstaw zrzut kontenera Blob Storage lub zdjęcia dodanego w Swaggerze.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0160">
            <a:solidFill>
              <a:srgbClr val="D8E1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653796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Blob Storage / SignalR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109960" y="65105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A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Funkcjonalności aplikacji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Lista funkcji widocznych w Swaggerze i Azure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1234440"/>
            <a:ext cx="5303520" cy="4206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320" dirty="0">
                <a:solidFill>
                  <a:srgbClr val="1F2933"/>
                </a:solidFill>
              </a:rPr>
              <a:t>CRUD klientów, fryzjerów, usług salonu i wizyt.</a:t>
            </a:r>
            <a:endParaRPr lang="en-US" sz="1320" dirty="0"/>
          </a:p>
          <a:p>
            <a:r>
              <a:rPr lang="en-US" sz="1320" dirty="0">
                <a:solidFill>
                  <a:srgbClr val="1F2933"/>
                </a:solidFill>
              </a:rPr>
              <a:t>Rezerwacja wizyty z walidacją danych i kolizji terminów.</a:t>
            </a:r>
            <a:endParaRPr lang="en-US" sz="1320" dirty="0"/>
          </a:p>
          <a:p>
            <a:r>
              <a:rPr lang="en-US" sz="1320" dirty="0">
                <a:solidFill>
                  <a:srgbClr val="1F2933"/>
                </a:solidFill>
              </a:rPr>
              <a:t>Historia wizyt klienta oraz widok wizyt fryzjera.</a:t>
            </a:r>
            <a:endParaRPr lang="en-US" sz="1320" dirty="0"/>
          </a:p>
          <a:p>
            <a:r>
              <a:rPr lang="en-US" sz="1320" dirty="0">
                <a:solidFill>
                  <a:srgbClr val="1F2933"/>
                </a:solidFill>
              </a:rPr>
              <a:t>Role użytkowników: Customer, Hairdresser, Admin.</a:t>
            </a:r>
            <a:endParaRPr lang="en-US" sz="1320" dirty="0"/>
          </a:p>
          <a:p>
            <a:r>
              <a:rPr lang="en-US" sz="1320" dirty="0">
                <a:solidFill>
                  <a:srgbClr val="1F2933"/>
                </a:solidFill>
              </a:rPr>
              <a:t>Dodawanie zdjęć fryzjerów i salonu do Blob Storage.</a:t>
            </a:r>
            <a:endParaRPr lang="en-US" sz="1320" dirty="0"/>
          </a:p>
          <a:p>
            <a:r>
              <a:rPr lang="en-US" sz="1320" dirty="0">
                <a:solidFill>
                  <a:srgbClr val="1F2933"/>
                </a:solidFill>
              </a:rPr>
              <a:t>Email z potwierdzeniem po utworzeniu wizyty.</a:t>
            </a:r>
            <a:endParaRPr lang="en-US" sz="1320" dirty="0"/>
          </a:p>
          <a:p>
            <a:r>
              <a:rPr lang="en-US" sz="1320" dirty="0">
                <a:solidFill>
                  <a:srgbClr val="1F2933"/>
                </a:solidFill>
              </a:rPr>
              <a:t>Powiadomienia realtime przez SignalR.</a:t>
            </a:r>
            <a:endParaRPr lang="en-US" sz="1320" dirty="0"/>
          </a:p>
        </p:txBody>
      </p:sp>
      <p:sp>
        <p:nvSpPr>
          <p:cNvPr id="5" name="Shape 3"/>
          <p:cNvSpPr/>
          <p:nvPr/>
        </p:nvSpPr>
        <p:spPr>
          <a:xfrm>
            <a:off x="6492240" y="1234440"/>
            <a:ext cx="4389120" cy="3520440"/>
          </a:xfrm>
          <a:prstGeom prst="roundRect">
            <a:avLst>
              <a:gd name="adj" fmla="val 1558"/>
            </a:avLst>
          </a:prstGeom>
          <a:solidFill>
            <a:srgbClr val="F8FAFC"/>
          </a:solidFill>
          <a:ln w="15240">
            <a:solidFill>
              <a:srgbClr val="D8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29400" y="1463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74A6"/>
                </a:solidFill>
              </a:rPr>
              <a:t>[Zrzut ekranu]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12280" y="1920240"/>
            <a:ext cx="374904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64748B"/>
                </a:solidFill>
              </a:rPr>
              <a:t>Wstaw zrzut Swaggera z listą kontrolerów.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0160">
            <a:solidFill>
              <a:srgbClr val="D8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53796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Funkcjonalność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109960" y="65105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A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Przygotowanie projektu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Proces konfiguracji od kodu do chmury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5669280" cy="3520440"/>
          </a:xfrm>
          <a:prstGeom prst="roundRect">
            <a:avLst>
              <a:gd name="adj" fmla="val 103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44168"/>
            <a:ext cx="1984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83A59"/>
                </a:solidFill>
              </a:rPr>
              <a:t>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931566" y="1344168"/>
            <a:ext cx="32314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3"/>
                </a:solidFill>
              </a:rPr>
              <a:t>Utworzenie projektów API, Core i Functions w Visual Studio.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777240" y="1737360"/>
            <a:ext cx="5669280" cy="0"/>
          </a:xfrm>
          <a:prstGeom prst="line">
            <a:avLst/>
          </a:prstGeom>
          <a:noFill/>
          <a:ln w="6350">
            <a:solidFill>
              <a:srgbClr val="D8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847088"/>
            <a:ext cx="1984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83A59"/>
                </a:solidFill>
              </a:rPr>
              <a:t>2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931566" y="1847088"/>
            <a:ext cx="32314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3"/>
                </a:solidFill>
              </a:rPr>
              <a:t>Dodanie modeli domenowych i kontrolerów CRUD.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777240" y="2240280"/>
            <a:ext cx="5669280" cy="0"/>
          </a:xfrm>
          <a:prstGeom prst="line">
            <a:avLst/>
          </a:prstGeom>
          <a:noFill/>
          <a:ln w="6350">
            <a:solidFill>
              <a:srgbClr val="D8E1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350008"/>
            <a:ext cx="1984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83A59"/>
                </a:solidFill>
              </a:rPr>
              <a:t>3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931566" y="2350008"/>
            <a:ext cx="32314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3"/>
                </a:solidFill>
              </a:rPr>
              <a:t>Konfiguracja Cosmos DB i kontenerów z partition key /id.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777240" y="2743200"/>
            <a:ext cx="5669280" cy="0"/>
          </a:xfrm>
          <a:prstGeom prst="line">
            <a:avLst/>
          </a:prstGeom>
          <a:noFill/>
          <a:ln w="6350">
            <a:solidFill>
              <a:srgbClr val="D8E1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852928"/>
            <a:ext cx="1984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83A59"/>
                </a:solidFill>
              </a:rPr>
              <a:t>4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931566" y="2852928"/>
            <a:ext cx="32314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3"/>
                </a:solidFill>
              </a:rPr>
              <a:t>Podłączenie Storage Account: Blob + Queue.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777240" y="3246120"/>
            <a:ext cx="5669280" cy="0"/>
          </a:xfrm>
          <a:prstGeom prst="line">
            <a:avLst/>
          </a:prstGeom>
          <a:noFill/>
          <a:ln w="6350">
            <a:solidFill>
              <a:srgbClr val="D8E1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355848"/>
            <a:ext cx="1984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83A59"/>
                </a:solidFill>
              </a:rPr>
              <a:t>5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931566" y="3355848"/>
            <a:ext cx="32314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3"/>
                </a:solidFill>
              </a:rPr>
              <a:t>Wdrożenie App Service i Function App.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777240" y="3749040"/>
            <a:ext cx="5669280" cy="0"/>
          </a:xfrm>
          <a:prstGeom prst="line">
            <a:avLst/>
          </a:prstGeom>
          <a:noFill/>
          <a:ln w="6350">
            <a:solidFill>
              <a:srgbClr val="D8E1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858768"/>
            <a:ext cx="1984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83A59"/>
                </a:solidFill>
              </a:rPr>
              <a:t>6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931566" y="3858768"/>
            <a:ext cx="32314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3"/>
                </a:solidFill>
              </a:rPr>
              <a:t>Dodanie Easy Auth, SignalR, Key Vault, Monitor i ACS Email.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777240" y="4251960"/>
            <a:ext cx="5669280" cy="0"/>
          </a:xfrm>
          <a:prstGeom prst="line">
            <a:avLst/>
          </a:prstGeom>
          <a:noFill/>
          <a:ln w="6350">
            <a:solidFill>
              <a:srgbClr val="D8E1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361688"/>
            <a:ext cx="1984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83A59"/>
                </a:solidFill>
              </a:rPr>
              <a:t>7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931566" y="4361688"/>
            <a:ext cx="32314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3"/>
                </a:solidFill>
              </a:rPr>
              <a:t>Testy w Swaggerze, Log Stream, Queue Storage i skrzynce email.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6903720" y="1234440"/>
            <a:ext cx="4160520" cy="3429000"/>
          </a:xfrm>
          <a:prstGeom prst="roundRect">
            <a:avLst>
              <a:gd name="adj" fmla="val 1600"/>
            </a:avLst>
          </a:prstGeom>
          <a:solidFill>
            <a:srgbClr val="F8FAFC"/>
          </a:solidFill>
          <a:ln w="15240">
            <a:solidFill>
              <a:srgbClr val="D8E1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0" y="146304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74A6"/>
                </a:solidFill>
              </a:rPr>
              <a:t>[Zrzut ekranu]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223760" y="1920240"/>
            <a:ext cx="3520440" cy="2514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64748B"/>
                </a:solidFill>
              </a:rPr>
              <a:t>Wstaw zrzut Visual Studio: Solution Explorer lub publikowanie do Azure.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0160">
            <a:solidFill>
              <a:srgbClr val="D8E1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653796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Przygotowanie projektu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109960" y="65105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A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Testy i diagnostyka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Jak potwierdzono działanie komponentów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31089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25880"/>
            <a:ext cx="73152" cy="1234440"/>
          </a:xfrm>
          <a:prstGeom prst="rect">
            <a:avLst/>
          </a:prstGeom>
          <a:solidFill>
            <a:srgbClr val="2474A6"/>
          </a:solidFill>
          <a:ln w="12700">
            <a:solidFill>
              <a:srgbClr val="2474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1490472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83A59"/>
                </a:solidFill>
              </a:rPr>
              <a:t>Swagger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978408" y="182880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3"/>
                </a:solidFill>
              </a:rPr>
              <a:t>CRUD i scenariusz POST /api/Appointments.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4434840" y="1325880"/>
            <a:ext cx="31089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325880"/>
            <a:ext cx="73152" cy="1234440"/>
          </a:xfrm>
          <a:prstGeom prst="rect">
            <a:avLst/>
          </a:prstGeom>
          <a:solidFill>
            <a:srgbClr val="E28A3B"/>
          </a:solidFill>
          <a:ln w="12700">
            <a:solidFill>
              <a:srgbClr val="E28A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6008" y="1490472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83A59"/>
                </a:solidFill>
              </a:rPr>
              <a:t>Queue Storage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4636008" y="182880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3"/>
                </a:solidFill>
              </a:rPr>
              <a:t>Widoczna wiadomość w booking-notifications oraz poison queue przy błędach.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8092440" y="1325880"/>
            <a:ext cx="31089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0" y="1325880"/>
            <a:ext cx="73152" cy="1234440"/>
          </a:xfrm>
          <a:prstGeom prst="rect">
            <a:avLst/>
          </a:prstGeom>
          <a:solidFill>
            <a:srgbClr val="5AA469"/>
          </a:solidFill>
          <a:ln w="12700">
            <a:solidFill>
              <a:srgbClr val="5AA4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93608" y="1490472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83A59"/>
                </a:solidFill>
              </a:rPr>
              <a:t>Log Stream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8293608" y="182880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3"/>
                </a:solidFill>
              </a:rPr>
              <a:t>Logi App Service i Function App pokazują przepływ requestów.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2011680" y="3429000"/>
            <a:ext cx="33832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11680" y="3429000"/>
            <a:ext cx="73152" cy="1234440"/>
          </a:xfrm>
          <a:prstGeom prst="rect">
            <a:avLst/>
          </a:prstGeom>
          <a:solidFill>
            <a:srgbClr val="C75146"/>
          </a:solidFill>
          <a:ln w="12700">
            <a:solidFill>
              <a:srgbClr val="C751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12848" y="359359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83A59"/>
                </a:solidFill>
              </a:rPr>
              <a:t>Email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2212848" y="39319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3"/>
                </a:solidFill>
              </a:rPr>
              <a:t>Potwierdzenie dostarczone na prawdziwą skrzynkę użytkownika.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492240" y="3429000"/>
            <a:ext cx="33832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3429000"/>
            <a:ext cx="73152" cy="1234440"/>
          </a:xfrm>
          <a:prstGeom prst="rect">
            <a:avLst/>
          </a:prstGeom>
          <a:solidFill>
            <a:srgbClr val="49B6D6"/>
          </a:solidFill>
          <a:ln w="12700">
            <a:solidFill>
              <a:srgbClr val="49B6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93408" y="359359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83A59"/>
                </a:solidFill>
              </a:rPr>
              <a:t>SignalR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6693408" y="39319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3"/>
                </a:solidFill>
              </a:rPr>
              <a:t>Strona testowa potwierdziła odbiór appointmentBooked.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0160">
            <a:solidFill>
              <a:srgbClr val="D8E1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653796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Testy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109960" y="65105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A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Podsumowanie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Co pokazuje projekt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05840" y="1463040"/>
            <a:ext cx="7498080" cy="3108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700" dirty="0">
                <a:solidFill>
                  <a:srgbClr val="1F2933"/>
                </a:solidFill>
              </a:rPr>
              <a:t>Backend C# został wdrożony w Azure App Service.</a:t>
            </a:r>
            <a:endParaRPr lang="en-US" sz="1700" dirty="0"/>
          </a:p>
          <a:p>
            <a:r>
              <a:rPr lang="en-US" sz="1700" dirty="0">
                <a:solidFill>
                  <a:srgbClr val="1F2933"/>
                </a:solidFill>
              </a:rPr>
              <a:t>Dane aplikacji działają w Cosmos DB w logicznie podzielonych kontenerach.</a:t>
            </a:r>
            <a:endParaRPr lang="en-US" sz="1700" dirty="0"/>
          </a:p>
          <a:p>
            <a:r>
              <a:rPr lang="en-US" sz="1700" dirty="0">
                <a:solidFill>
                  <a:srgbClr val="1F2933"/>
                </a:solidFill>
              </a:rPr>
              <a:t>Wysyłka maila jest zrobiona chmurowo przez Queue + Function + ACS Email.</a:t>
            </a:r>
            <a:endParaRPr lang="en-US" sz="1700" dirty="0"/>
          </a:p>
          <a:p>
            <a:r>
              <a:rPr lang="en-US" sz="1700" dirty="0">
                <a:solidFill>
                  <a:srgbClr val="1F2933"/>
                </a:solidFill>
              </a:rPr>
              <a:t>SignalR dodaje powiadomienia realtime.</a:t>
            </a:r>
            <a:endParaRPr lang="en-US" sz="1700" dirty="0"/>
          </a:p>
          <a:p>
            <a:r>
              <a:rPr lang="en-US" sz="1700" dirty="0">
                <a:solidFill>
                  <a:srgbClr val="1F2933"/>
                </a:solidFill>
              </a:rPr>
              <a:t>Projekt pokazuje pełną integrację kilku usług Azure w jednym scenariuszu biznesowym.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0160">
            <a:solidFill>
              <a:srgbClr val="D8E1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653796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Podsumowanie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109960" y="65105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University of Gdansk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HairSalon Booking</dc:subject>
  <dc:creator>Wiktor Gochnio</dc:creator>
  <cp:lastModifiedBy>Wiktor Gochnio</cp:lastModifiedBy>
  <cp:revision>1</cp:revision>
  <dcterms:created xsi:type="dcterms:W3CDTF">2026-05-18T16:29:34Z</dcterms:created>
  <dcterms:modified xsi:type="dcterms:W3CDTF">2026-05-18T16:29:34Z</dcterms:modified>
</cp:coreProperties>
</file>